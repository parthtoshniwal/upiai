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UPIAI — Universal Personalized Inventory &amp; Demand Intelligence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Comprehensive Mathematical Formulations, ML Algorithms &amp; Production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Tested, Reconciled &amp; Audited Across 1,000,000 DMart Retail Transactions (₹765M+ Gross Volume)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CORE ML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XGBoost Autoregressive Regressor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INVENTORY MODEL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Stochastic King's Safety Stock &amp; Dynamic 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DATA GOVERNANCE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9-Canonical Dimension Provenance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39" y="438912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SCALE AUDITED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1M Txns • 213 Weeks • ₹202M Profit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Modern Retail Inventory Dilemma (DMart Hypermarket Operations)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Balancing the existential tradeoff between Lost Revenue (Stockouts) and Capital Waste (Overstocking)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1. The Stockout Threat (Under-Stocking)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Unmet customer demand triggers immediate basket abandonment.</a:t>
            </a:r>
            <a:br/>
            <a:r>
              <a:t>• Leads to customer churn to competing supermarket chains.</a:t>
            </a:r>
            <a:br/>
            <a:r>
              <a:t>• Average revenue loss per critical stockout event exceeds ₹18,400 per store.</a:t>
            </a:r>
            <a:br/>
            <a:r>
              <a:t>• Static reorder thresholds fail to anticipate sharp weekend volume surges (+35%).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The Working Capital Trap (Over-Stocking)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Unsold inventory ties up corporate cash flow and working liquidity.</a:t>
            </a:r>
            <a:br/>
            <a:r>
              <a:t>• Perishable grocery categories suffer spoilage, damage, and liquidation markdowns.</a:t>
            </a:r>
            <a:br/>
            <a:r>
              <a:t>• High warehouse holding costs erode gross operational margins.</a:t>
            </a:r>
            <a:br/>
            <a:r>
              <a:t>• Requires scientific safety stock sizing based on stochastic demand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The Solution: UPIAI Autonomous Intelligence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Vectorized data cleaning &amp; COGS attribution across 1M transaction records.</a:t>
            </a:r>
            <a:br/>
            <a:r>
              <a:t>• Autoregressive XGBoost 7-day and 30-day demand forecast curves.</a:t>
            </a:r>
            <a:br/>
            <a:r>
              <a:t>• Dynamic Reorder Points (ROP) using King's service-level formula.</a:t>
            </a:r>
            <a:br/>
            <a:r>
              <a:t>• Real-time supplier SLA scoring &amp; accounts payable ledger reconciliation.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Four-Tier Decoupled Architecture &amp; System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Production-grade integration of Streamlit, FastAPI, Turso (libsql/SQLite), and ML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Tier 1: Presentation (Streamlit)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Multi-tab executive analytics suite.</a:t>
            </a:r>
            <a:br/>
            <a:r>
              <a:t>• Raw vs Clean dual-dataset explorer.</a:t>
            </a:r>
            <a:br/>
            <a:r>
              <a:t>• Weekly Summary Hub with interactive Plotly.</a:t>
            </a:r>
            <a:br/>
            <a:r>
              <a:t>• Embedded two-pass publication-grade PDF viewer.</a:t>
            </a:r>
            <a:br/>
            <a:r>
              <a:t>• Direct one-click dataset download station.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Tier 2: Backend API (FastAPI)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Asynchronous high-throughput REST service.</a:t>
            </a:r>
            <a:br/>
            <a:r>
              <a:t>• Automated Swagger OpenAPI docs (/docs).</a:t>
            </a:r>
            <a:br/>
            <a:r>
              <a:t>• Strict validation via Pydantic v2 schemas.</a:t>
            </a:r>
            <a:br/>
            <a:r>
              <a:t>• Auto-supervised launcher bridge (backend_bridge).</a:t>
            </a:r>
            <a:br/>
            <a:r>
              <a:t>• Seamless in-process core fallback for 100% uptime.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Tier 3: Database (Turso / libsql)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Serverless edge database with embedded SQLite.</a:t>
            </a:r>
            <a:br/>
            <a:r>
              <a:t>• WAL (Write-Ahead Logging) mode for concurrent reads.</a:t>
            </a:r>
            <a:br/>
            <a:r>
              <a:t>• Ingested 1,000,000 transaction rows.</a:t>
            </a:r>
            <a:br/>
            <a:r>
              <a:t>• Indexed on date, department category, customer tier.</a:t>
            </a:r>
            <a:br/>
            <a:r>
              <a:t>• Fast atomic queries (&lt;12ms execution).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Tier 4: AI &amp; ML Engine Core</a:t>
            </a:r>
          </a:p>
          <a:p>
            <a:pPr>
              <a:spcBef>
                <a:spcPts val="1000"/>
              </a:spcBef>
              <a:defRPr sz="1050">
                <a:solidFill>
                  <a:srgbClr val="F8FAFC"/>
                </a:solidFill>
              </a:defRPr>
            </a:pPr>
            <a:r>
              <a:t>• XGBoost autoregressive time-series engine.</a:t>
            </a:r>
            <a:br/>
            <a:r>
              <a:t>• Dynamic King's Safety Stock &amp; ROP formulation.</a:t>
            </a:r>
            <a:br/>
            <a:r>
              <a:t>• Multi-criteria vendor SLA reliability scoring.</a:t>
            </a:r>
            <a:br/>
            <a:r>
              <a:t>• 9-dimension data provenance governance.</a:t>
            </a:r>
            <a:br/>
            <a:r>
              <a:t>• Vectorized weekly aggregation engine (213 weeks).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1: Vectorized Data Engineering &amp; COGS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Transforms 1M raw records in 21.6 seconds without dropping rows, attributing departmental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Mathematical Formulation &amp; Department COGS Model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1. Department Cost of Goods Sold (COGS) Attribution:</a:t>
            </a:r>
            <a:br/>
            <a:r>
              <a:t>   EstimatedCost_i = TotalAmount_i * kappa_category</a:t>
            </a:r>
            <a:br/>
            <a:r>
              <a:t>   GrossProfit_i = TotalAmount_i - EstimatedCost_i</a:t>
            </a:r>
            <a:br/>
            <a:r>
              <a:t>   MarginPct_i = (GrossProfit_i / TotalAmount_i) * 100</a:t>
            </a:r>
            <a:br/>
            <a:br/>
            <a:r>
              <a:t>2. Department Economic Margins (Modeled on DMart):</a:t>
            </a:r>
            <a:br/>
            <a:r>
              <a:t>   • Clothing / Apparel:      kappa = 0.62 (38% Margin)</a:t>
            </a:r>
            <a:br/>
            <a:r>
              <a:t>   • Beauty &amp; Personal Care:  kappa = 0.68 (32% Margin)</a:t>
            </a:r>
            <a:br/>
            <a:r>
              <a:t>   • Home &amp; Kitchen:          kappa = 0.70 (30% Margin)</a:t>
            </a:r>
            <a:br/>
            <a:r>
              <a:t>   • Grocery Staples:         kappa = 0.82 (18% Margin)</a:t>
            </a:r>
            <a:br/>
            <a:r>
              <a:t>   • Consumer Electronics:    kappa = 0.86 (14% Margin)</a:t>
            </a:r>
            <a:br/>
            <a:br/>
            <a:r>
              <a:t>3. High-Speed Vectorized Execution (O(N)):</a:t>
            </a:r>
            <a:br/>
            <a:r>
              <a:t>   • Columnar NumPy arithmetic replaces slow Python row iterators.</a:t>
            </a:r>
            <a:br/>
            <a:r>
              <a:t>   • 1,000,000 records processed in ~21.6 seconds (~46,300 rows/sec).</a:t>
            </a:r>
            <a:br/>
            <a:r>
              <a:t>   • 100% data retention (Zero records dropped; full audit reconciliation).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Empirical Audit: Before vs After Cleaning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Record Count:       1,000,000 -&gt; 1,000,000 (100% Retained)</a:t>
            </a:r>
            <a:br/>
            <a:r>
              <a:t>• Dimensions:         8 Raw Columns -&gt; 19 Canonical Fields</a:t>
            </a:r>
            <a:br/>
            <a:r>
              <a:t>• Primary Key:        Unindexed -&gt; Synthetic Atomic 'TXN-0000001'</a:t>
            </a:r>
            <a:br/>
            <a:r>
              <a:t>• Date Format:        'DD-MM-YYYY HH:MM' -&gt; ISO-8601 YYYY-MM-DD</a:t>
            </a:r>
            <a:br/>
            <a:r>
              <a:t>• Time Decomposed:    Extracted Year, Month, Quarter, DayOfWeek, Hour</a:t>
            </a:r>
            <a:br/>
            <a:r>
              <a:t>• Reconciled Revenue: ₹765,094,619.39 (100% Mathematical Match)</a:t>
            </a:r>
            <a:br/>
            <a:r>
              <a:t>• Reconciled Profit:  ₹202,116,147.17 (26.4% Weighted Average Margin)</a:t>
            </a:r>
            <a:br/>
            <a:r>
              <a:t>• Quality Index:      Jumped from 76.5% to 98.8% (Production Grade)</a:t>
            </a:r>
            <a:br/>
            <a:br/>
            <a:r>
              <a:t>Engineering Significance for Faculty:</a:t>
            </a:r>
            <a:br/>
            <a:r>
              <a:t>Raw retail data rarely contains cost or profit metrics. By mathematically reconciling COGS at the departmental level, UPIAI unlocks gross margin analytics and revenue-at-risk calculations for predictive AI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2: 9-Canonical Dimension Data Readiness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Automated schema auditing, entropy profiling, and operational tier governance (0-100%)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Mathematical Formulation of the Readiness Index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The Overall Readiness Score (R in [0, 100]) is a weighted linear combination of column completeness (C_j) and strict type conformance (T_j):</a:t>
            </a:r>
            <a:br/>
            <a:br/>
            <a:r>
              <a:t>   ReadinessScore = Sum_{j=1}^{K} (w_j * C_j * T_j)</a:t>
            </a:r>
            <a:br/>
            <a:br/>
            <a:r>
              <a:t>Where:</a:t>
            </a:r>
            <a:br/>
            <a:r>
              <a:t>• w_j = Importance weight assigned to canonical feature j:</a:t>
            </a:r>
            <a:br/>
            <a:r>
              <a:t>  - Transaction Date:   w = 25.0% (Critical for lag features)</a:t>
            </a:r>
            <a:br/>
            <a:r>
              <a:t>  - Units Sold Volume:  w = 25.0% (Target variable)</a:t>
            </a:r>
            <a:br/>
            <a:r>
              <a:t>  - Product Category:   w = 20.0% (Entity clustering key)</a:t>
            </a:r>
            <a:br/>
            <a:r>
              <a:t>  - Unit Selling Price: w = 10.0% (Financial modeling)</a:t>
            </a:r>
            <a:br/>
            <a:r>
              <a:t>  - Total Revenue:      w = 10.0% (Transaction reconciliation)</a:t>
            </a:r>
            <a:br/>
            <a:r>
              <a:t>  - Customer Tier:      w =  5.0% (Cohort segmentation)</a:t>
            </a:r>
            <a:br/>
            <a:r>
              <a:t>  - Customer Name:      w =  5.0% (Repeat frequency)</a:t>
            </a:r>
            <a:br/>
            <a:br/>
            <a:r>
              <a:t>• Completeness Metric:</a:t>
            </a:r>
            <a:br/>
            <a:r>
              <a:t>  C_j = 1.0 - (MissingCount_j / TotalRecords)</a:t>
            </a:r>
            <a:br/>
            <a:br/>
            <a:r>
              <a:t>• Type Conformance Metric:</a:t>
            </a:r>
            <a:br/>
            <a:r>
              <a:t>  T_j in {0.0, 1.0} (Checks ISO dates, positive floats/integers)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Operational Governance Tiers &amp; Disclosure Engine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Operational Tier Classification:</a:t>
            </a:r>
            <a:br/>
            <a:r>
              <a:t>• Score &gt;= 90.0%:  OPTIMAL_ML_READY</a:t>
            </a:r>
            <a:br/>
            <a:r>
              <a:t>  Dataset qualifies for autonomous forecasting and dynamic PO generation.</a:t>
            </a:r>
            <a:br/>
            <a:r>
              <a:t>• 70.0% - 89.9%:   DEGRADED_USABLE</a:t>
            </a:r>
            <a:br/>
            <a:r>
              <a:t>  Acceptable for inference with assumed domain defaults applied.</a:t>
            </a:r>
            <a:br/>
            <a:r>
              <a:t>• Score &lt; 70.0%:   BLOCKED / UNUSABLE</a:t>
            </a:r>
            <a:br/>
            <a:r>
              <a:t>  Downstream ML execution strictly halted to prevent catastrophic drift.</a:t>
            </a:r>
            <a:br/>
            <a:br/>
            <a:r>
              <a:t>Structural Limitation Disclosures:</a:t>
            </a:r>
            <a:br/>
            <a:r>
              <a:t>The engine dynamically inspects datasets and reports limitations:</a:t>
            </a:r>
            <a:br/>
            <a:r>
              <a:t>1. Absence of Store-Level Geo IDs (Forces store-wide clustering).</a:t>
            </a:r>
            <a:br/>
            <a:r>
              <a:t>2. Absence of Direct Supplier Vendor Foreign Keys.</a:t>
            </a:r>
            <a:br/>
            <a:r>
              <a:t>3. Missing Stock-on-Hand Ledger (Solved by state space tracking).</a:t>
            </a:r>
            <a:br/>
            <a:br/>
            <a:r>
              <a:t>Live Upload Auditing:</a:t>
            </a:r>
            <a:br/>
            <a:r>
              <a:t>Frontend users can drag-and-drop any custom retail CSV to receive an instant 9-dimension health scorecard and operational readiness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MACHINE LEARNING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3: XGBoost Autoregressive Demand Forecaster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Gradient-boosted decision trees over multi-lag features and rolling statistical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Mathematical Formulation &amp; Feature Engineering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Predictive Model Formulation:</a:t>
            </a:r>
            <a:br/>
            <a:r>
              <a:t>y_hat_{t+k} = f(lag_1, lag_2, lag_7, roll_mean_7, roll_std_7, Calendar_Covariates)</a:t>
            </a:r>
            <a:br/>
            <a:br/>
            <a:r>
              <a:t>1. Dynamic Lag Features:</a:t>
            </a:r>
            <a:br/>
            <a:r>
              <a:t>   • lag_1 = y_{t-1} (Immediate 24-hour demand momentum)</a:t>
            </a:r>
            <a:br/>
            <a:r>
              <a:t>   • lag_2 = y_{t-2} (48-hour short-term acceleration)</a:t>
            </a:r>
            <a:br/>
            <a:r>
              <a:t>   • lag_7 = y_{t-7} (Weekly seasonality cycle — crucial for retail weekends)</a:t>
            </a:r>
            <a:br/>
            <a:br/>
            <a:r>
              <a:t>2. Rolling Window Statistics (Trailing 7-Day Window):</a:t>
            </a:r>
            <a:br/>
            <a:r>
              <a:t>   • roll_mean_7 = (1/7) * Sum_{i=1}^{7} y_{t-i}</a:t>
            </a:r>
            <a:br/>
            <a:r>
              <a:t>   • roll_std_7  = sqrt( (1/6) * Sum_{i=1}^{7} (y_{t-i} - roll_mean_7)^2 )</a:t>
            </a:r>
            <a:br/>
            <a:br/>
            <a:r>
              <a:t>3. Exogenous Calendar Covariates:</a:t>
            </a:r>
            <a:br/>
            <a:r>
              <a:t>   • DayOfWeek in {0, ..., 6}</a:t>
            </a:r>
            <a:br/>
            <a:r>
              <a:t>   • IsWeekend in {0, 1} (Captures Saturday/Sunday retail grocery surges)</a:t>
            </a:r>
            <a:br/>
            <a:r>
              <a:t>   • DayOfMonth in {1, ..., 31} and Month in {1, ..., 12}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XGBoost Regularization &amp; Training Architecture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Objective Function Optimized:</a:t>
            </a:r>
            <a:br/>
            <a:r>
              <a:t>L(theta) = Sum_{i=1}^{N} (y_i - y_hat_i)^2 + Sum_{m=1}^{M} Omega(f_m)</a:t>
            </a:r>
            <a:br/>
            <a:br/>
            <a:r>
              <a:t>Tree Complexity Regularization Penalty:</a:t>
            </a:r>
            <a:br/>
            <a:r>
              <a:t>Omega(f) = gamma * T + (1/2) * lambda * Sum_{j=1}^{T} w_j^2</a:t>
            </a:r>
            <a:br/>
            <a:br/>
            <a:r>
              <a:t>Trained Hyperparameters (Tuned for Retail Tabular Stability):</a:t>
            </a:r>
            <a:br/>
            <a:r>
              <a:t>• n_estimators = 60 (Boosting iterations)</a:t>
            </a:r>
            <a:br/>
            <a:r>
              <a:t>• max_depth = 3 (Shallow trees to strictly prevent retail spike overfitting)</a:t>
            </a:r>
            <a:br/>
            <a:r>
              <a:t>• learning_rate = 0.08 (Step size shrinkage)</a:t>
            </a:r>
            <a:br/>
            <a:r>
              <a:t>• objective = 'reg:squarederror' (L2 loss minimization)</a:t>
            </a:r>
            <a:br/>
            <a:br/>
            <a:r>
              <a:t>Why Not ARIMA or LSTM? (Faculty Defense Highlight):</a:t>
            </a:r>
            <a:br/>
            <a:r>
              <a:t>• ARIMA cannot natively handle multiple exogenous calendar features.</a:t>
            </a:r>
            <a:br/>
            <a:r>
              <a:t>• LSTMs/Transformers require heavy compute and overfit on small sample histories.</a:t>
            </a:r>
            <a:br/>
            <a:r>
              <a:t>• XGBoost trains in milliseconds, handles non-linear interactions, and delivers sub-10ms inference latency for live executive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TIME-SERIES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4: Multi-Horizon Recursive Rollout &amp; 90% Confidence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Generating continuous 7-day and 30-day forecast curves with zero future data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Recursive Multi-Step Forecasting Mechanism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How Future Steps Are Estimated Without Data Leakage:</a:t>
            </a:r>
            <a:br/>
            <a:br/>
            <a:r>
              <a:t>1. Step t+1 (Day 1 Ahead):</a:t>
            </a:r>
            <a:br/>
            <a:r>
              <a:t>   Features generated strictly from actual observed sales history.</a:t>
            </a:r>
            <a:br/>
            <a:r>
              <a:t>   Model predicts y_hat_{t+1}.</a:t>
            </a:r>
            <a:br/>
            <a:br/>
            <a:r>
              <a:t>2. Step t+2 (Day 2 Ahead):</a:t>
            </a:r>
            <a:br/>
            <a:r>
              <a:t>   The predicted value y_hat_{t+1} is appended to the synthetic history.</a:t>
            </a:r>
            <a:br/>
            <a:r>
              <a:t>   lag_1 becomes y_hat_{t+1}, lag_2 becomes actual y_t.</a:t>
            </a:r>
            <a:br/>
            <a:r>
              <a:t>   Rolling mean and standard deviation are dynamically updated.</a:t>
            </a:r>
            <a:br/>
            <a:br/>
            <a:r>
              <a:t>3. Steps t+3 through t+30:</a:t>
            </a:r>
            <a:br/>
            <a:r>
              <a:t>   Recursion repeats across the full horizon (H = 30 days).</a:t>
            </a:r>
            <a:br/>
            <a:r>
              <a:t>   Guarantees zero future actual sales are ever leaked into training.</a:t>
            </a:r>
            <a:br/>
            <a:br/>
            <a:r>
              <a:t>Seasonal Fallback Multiplication (Cold-Start Safeguard):</a:t>
            </a:r>
            <a:br/>
            <a:r>
              <a:t>If historical observations &lt; 7 days, UPIAI triggers a cold-start heuristic:</a:t>
            </a:r>
            <a:br/>
            <a:r>
              <a:t>y_hat = max(1.0, (mean_baseline * weekend_lift) + Gaussian_Noise)</a:t>
            </a:r>
            <a:br/>
            <a:r>
              <a:t>where weekend_lift = 1.35 on Saturday and Sunday.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90% Parametric Confidence Interval Bands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Quantifying Demand Uncertainty for Inventory Managers:</a:t>
            </a:r>
            <a:br/>
            <a:br/>
            <a:r>
              <a:t>Point forecasts are insufficient for supply chains because demand is stochastic. UPIAI computes continuous lower and upper bounds at a 90% confidence level:</a:t>
            </a:r>
            <a:br/>
            <a:br/>
            <a:r>
              <a:t>   Z_{0.90} = 1.645  (Two-tailed standard normal critical value)</a:t>
            </a:r>
            <a:br/>
            <a:br/>
            <a:r>
              <a:t>   LowerBound_{90}(t) = max( 0.0,  y_hat(t) - 1.645 * sigma_{baseline} )</a:t>
            </a:r>
            <a:br/>
            <a:r>
              <a:t>   UpperBound_{90}(t) = y_hat(t) + 1.645 * sigma_{baseline}</a:t>
            </a:r>
            <a:br/>
            <a:br/>
            <a:r>
              <a:t>Dashboard Visualization in Streamlit:</a:t>
            </a:r>
            <a:br/>
            <a:r>
              <a:t>• Upper bound and lower bound rendered via translucent shaded polygon.</a:t>
            </a:r>
            <a:br/>
            <a:r>
              <a:t>• Point forecast curve plotted with solid blue spline and markers.</a:t>
            </a:r>
            <a:br/>
            <a:r>
              <a:t>• Allows inventory directors to plan for pessimistic, expected, and surge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INVENTORY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Algorithms 5 &amp; 6: King's Safety Stock &amp; Dynamic Reorder Points (ROP)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Stochastic operations research optimizing working capital and preventing stockouts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Stochastic Safety Stock &amp; ROP Formulations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1. Daily Consumption Velocity (v):</a:t>
            </a:r>
            <a:br/>
            <a:r>
              <a:t>   v = (1/7) * Sum_{k=1}^{7} y_hat_{t+k}</a:t>
            </a:r>
            <a:br/>
            <a:br/>
            <a:r>
              <a:t>2. Days of Supply (DoS):</a:t>
            </a:r>
            <a:br/>
            <a:r>
              <a:t>   DoS = CurrentStock / v</a:t>
            </a:r>
            <a:br/>
            <a:br/>
            <a:r>
              <a:t>3. King's Safety Stock Formula (SS):</a:t>
            </a:r>
            <a:br/>
            <a:r>
              <a:t>   To guarantee a 95% Cycle Service Level (CSL) across supplier lead time L:</a:t>
            </a:r>
            <a:br/>
            <a:r>
              <a:t>   SS = ceil( Z * sigma_demand * sqrt(L) ) = ceil( 1.645 * sigma_d * sqrt(L) )</a:t>
            </a:r>
            <a:br/>
            <a:br/>
            <a:r>
              <a:t>   Why sqrt(L)? (Faculty Mathematical Proof):</a:t>
            </a:r>
            <a:br/>
            <a:r>
              <a:t>   If daily demand is i.i.d. with variance sigma_d^2, lead-time variance across    L days is: Var(D_L) = L * sigma_d^2. Taking the standard deviation yields    sigma_L = sigma_d * sqrt(L).</a:t>
            </a:r>
            <a:br/>
            <a:br/>
            <a:r>
              <a:t>4. Dynamic Reorder Point (ROP):</a:t>
            </a:r>
            <a:br/>
            <a:r>
              <a:t>   ROP = ceil( (v * L) + SS )</a:t>
            </a:r>
            <a:br/>
            <a:r>
              <a:t>   Trigger Condition: When CurrentStock &lt;= ROP, dispatch Purchase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Autonomous Purchase Order (PO) Sizing &amp; Risk Tiers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Autonomous Purchase Order Sizing:</a:t>
            </a:r>
            <a:br/>
            <a:r>
              <a:t>Target stock buffers lead time plus a 30-day operating review cycle:</a:t>
            </a:r>
            <a:br/>
            <a:r>
              <a:t>   TargetStock = ceil( v * (L + 30) + SS )</a:t>
            </a:r>
            <a:br/>
            <a:r>
              <a:t>   RecommendedPO_Qty = max( 0,  TargetStock - CurrentStock )</a:t>
            </a:r>
            <a:br/>
            <a:r>
              <a:t>   EstimatedPO_Cost  = RecommendedPO_Qty * UnitCost</a:t>
            </a:r>
            <a:br/>
            <a:br/>
            <a:r>
              <a:t>Stockout Probability &amp; Risk Classification:</a:t>
            </a:r>
            <a:br/>
            <a:r>
              <a:t>• CRITICAL (DoS &lt; L):</a:t>
            </a:r>
            <a:br/>
            <a:r>
              <a:t>  P_stockout = min(98.5%, max(75.0%, 100 - (DoS/L)*30))</a:t>
            </a:r>
            <a:br/>
            <a:r>
              <a:t>  Urgency: 'IMMEDIATE' | Capital at Risk quantified in Rupees.</a:t>
            </a:r>
            <a:br/>
            <a:r>
              <a:t>• WARNING (L &lt;= DoS &lt;= L + 5):</a:t>
            </a:r>
            <a:br/>
            <a:r>
              <a:t>  P_stockout = 55.0% | Urgency: 'PLAN_THIS_WEEK'.</a:t>
            </a:r>
            <a:br/>
            <a:r>
              <a:t>• OPTIMAL (L + 5 &lt; DoS &lt;= 60):</a:t>
            </a:r>
            <a:br/>
            <a:r>
              <a:t>  P_stockout = 10.0% | Operating at healthy stock velocity.</a:t>
            </a:r>
            <a:br/>
            <a:r>
              <a:t>• OVERSTOCKED (DoS &gt; 60):</a:t>
            </a:r>
            <a:br/>
            <a:r>
              <a:t>  P_stockout = 2.0%  | Excess working capital locked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SUPPLY CHAIN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 7: Multi-Criteria Supplier SLA Reliability Scorer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Vendor fulfillment metrics, lead-time variance penalties, and Net 30/45 AP ledger settlement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Composite Reliability Index (0 - 100 Score)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Multi-Attribute Utility Theory (MAUT) Formulation:</a:t>
            </a:r>
            <a:br/>
            <a:br/>
            <a:r>
              <a:t>S_vendor = (R_ontime * 50.0) + ( (Q_rating / 5.0) * 30.0 ) + ( 20.0 - P_var )</a:t>
            </a:r>
            <a:br/>
            <a:br/>
            <a:r>
              <a:t>Three Operational Pillars:</a:t>
            </a:r>
            <a:br/>
            <a:r>
              <a:t>1. On-Time Delivery Rate (50% Weight):</a:t>
            </a:r>
            <a:br/>
            <a:r>
              <a:t>   Fulfillment accuracy metric (Orders delivered on or before promised SLA).</a:t>
            </a:r>
            <a:br/>
            <a:br/>
            <a:r>
              <a:t>2. Quality Inspection Rating (30% Weight):</a:t>
            </a:r>
            <a:br/>
            <a:r>
              <a:t>   Standardized quality score out of 5.0 (Defect rates, packaging compliance).</a:t>
            </a:r>
            <a:br/>
            <a:br/>
            <a:r>
              <a:t>3. Lead-Time Stability (20% Weight):</a:t>
            </a:r>
            <a:br/>
            <a:r>
              <a:t>   Penalizes unpredictable shipping delays via variance ratio penalty:</a:t>
            </a:r>
            <a:br/>
            <a:r>
              <a:t>   P_var = min( 20.0,  (sigma_lead / max(1.0, mu_lead)) * 40.0 )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Vendor Tiering &amp; Accounts Payable (AP) Settlement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Vendor Classification Rules:</a:t>
            </a:r>
            <a:br/>
            <a:r>
              <a:t>• TIER 1 (Preferred Partners):</a:t>
            </a:r>
            <a:br/>
            <a:r>
              <a:t>  R_ontime &gt;= 92% AND Q_rating &gt;= 4.5 AND sigma_lead &lt;= 3.5 days.</a:t>
            </a:r>
            <a:br/>
            <a:r>
              <a:t>  Eligible for automated purchase order routing.</a:t>
            </a:r>
            <a:br/>
            <a:r>
              <a:t>• TIER 2 (Reliable Standard):</a:t>
            </a:r>
            <a:br/>
            <a:r>
              <a:t>  R_ontime &gt;= 85% | Standard replenishment terms.</a:t>
            </a:r>
            <a:br/>
            <a:r>
              <a:t>• TIER 3 (High Risk):</a:t>
            </a:r>
            <a:br/>
            <a:r>
              <a:t>  R_ontime &lt; 85% | Flagged for contract renegotiation or volume reduction.</a:t>
            </a:r>
            <a:br/>
            <a:br/>
            <a:r>
              <a:t>Accounts Payable (AP) Live Settlement:</a:t>
            </a:r>
            <a:br/>
            <a:r>
              <a:t>• Real-time vendor ledger tracking pending invoices (Net 30 / Net 45).</a:t>
            </a:r>
            <a:br/>
            <a:r>
              <a:t>• Overdue balance alerts displayed directly on executive dashboard.</a:t>
            </a:r>
            <a:br/>
            <a:r>
              <a:t>• One-click settlement button updates Turso/libsql database atomically.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REPORTING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Algorithms 8 &amp; 9: Vectorized Weekly Analytics &amp; Two-Pass PDF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Aggregating 213 calendar weeks in 1.15s and compiling publication-grade audit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Algorithm 8: Vectorized Weekly Aggregations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High-Speed Calendar Slicing Across 1M Records:</a:t>
            </a:r>
            <a:br/>
            <a:br/>
            <a:r>
              <a:t>• Monday-Based Week Start Vectorization:</a:t>
            </a:r>
            <a:br/>
            <a:r>
              <a:t>  week_start_dt = dts - pd.to_timedelta(dts.dt.dayofweek, unit='D')</a:t>
            </a:r>
            <a:br/>
            <a:r>
              <a:t>  week_end_dt   = week_start_dt + pd.to_timedelta(6, unit='D')</a:t>
            </a:r>
            <a:br/>
            <a:r>
              <a:t>  year_week     = dts.dt.strftime('%Y-W%U')</a:t>
            </a:r>
            <a:br/>
            <a:br/>
            <a:r>
              <a:t>• Groupby Aggregations (Computed in 1.15s):</a:t>
            </a:r>
            <a:br/>
            <a:r>
              <a:t>  - Total Revenue &amp; Gross Profit sum</a:t>
            </a:r>
            <a:br/>
            <a:r>
              <a:t>  - Transaction &amp; volume counts</a:t>
            </a:r>
            <a:br/>
            <a:r>
              <a:t>  - Average Order Value (AOV = Revenue / Orders)</a:t>
            </a:r>
            <a:br/>
            <a:r>
              <a:t>  - Margin % = (Gross Profit / Revenue) * 100</a:t>
            </a:r>
            <a:br/>
            <a:br/>
            <a:r>
              <a:t>• Week-over-Week (WoW) Volatility Tracking:</a:t>
            </a:r>
            <a:br/>
            <a:r>
              <a:t>  WoW_Rev_Growth = (Rev_t - Rev_{t-1}) / Rev_{t-1} * 100</a:t>
            </a:r>
            <a:br/>
            <a:r>
              <a:t>  WoW_Unit_Growth = (Units_t - Units_{t-1}) / Units_{t-1} * 100</a:t>
            </a:r>
            <a:br/>
            <a:br/>
            <a:r>
              <a:t>• Result: Consolidated 213 weeks (₹3.59M average weekly revenue).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Algorithm 9: Two-Pass NumberedCanvas PDF Engine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Solving the Dynamic Total Page Count Problem in ReportLab:</a:t>
            </a:r>
            <a:br/>
            <a:br/>
            <a:r>
              <a:t>Single-pass document generators cannot know the final page count (N) when writing page 1. UPIAI implements a two-pass canvas subclass:</a:t>
            </a:r>
            <a:br/>
            <a:br/>
            <a:r>
              <a:t>class NumberedCanvasWeekly(canvas.Canvas):</a:t>
            </a:r>
            <a:br/>
            <a:r>
              <a:t>  def showPage(self):</a:t>
            </a:r>
            <a:br/>
            <a:r>
              <a:t>    self._saved_page_states.append(dict(self.__dict__))</a:t>
            </a:r>
            <a:br/>
            <a:r>
              <a:t>    self._startPage()</a:t>
            </a:r>
            <a:br/>
            <a:br/>
            <a:r>
              <a:t>  def save(self):</a:t>
            </a:r>
            <a:br/>
            <a:r>
              <a:t>    num_pages = len(self._saved_page_states)</a:t>
            </a:r>
            <a:br/>
            <a:r>
              <a:t>    for state in self._saved_page_states:</a:t>
            </a:r>
            <a:br/>
            <a:r>
              <a:t>      self.__dict__.update(state)</a:t>
            </a:r>
            <a:br/>
            <a:r>
              <a:t>      self.draw_page_decorations(num_pages)</a:t>
            </a:r>
            <a:br/>
            <a:r>
              <a:t>      super().showPage()</a:t>
            </a:r>
            <a:br/>
            <a:r>
              <a:t>    super().save()</a:t>
            </a:r>
            <a:br/>
            <a:br/>
            <a:r>
              <a:t>• Renders running headers, rules, and 'Page X of N' footers.</a:t>
            </a:r>
            <a:br/>
            <a:r>
              <a:t>• Generates 300 DPI Matplotlib charts headlessly using 'Agg'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VIVA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Academic Defense Guide: Top Faculty Questions &amp; Model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 rigor and architectural justifications for examiners and evaluators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Q1: Why XGBoost over ARIMA or LSTM?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ARIMA fails with non-linear calendar covariates (weekend grocery surges). LSTMs require heavy compute and overfit on small tabular history. XGBoost trains in seconds, regularizes leaf complexity via L1/L2 penalties, and provides &lt;10ms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Q2: How is data leakage prevented in multi-horizon rollouts?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Future true sales are strictly masked. At step t+1, prediction y_hat_{t+1} is generated from history, appended synthetically, and used recursively as lag_1 for step t+2 while re-computing rolling statistics over synthetic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Q3: What is the mathematical justification of sqrt(Lead Time)?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Independent daily demands have variance sigma_d^2. Over L independent days, total variance is Var(D_L) = L * sigma_d^2. The standard deviation is therefore sigma_d * sqrt(L). Multiplying by Z=1.645 gives King's 95% safety stock formula.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Q4: How did you process 1M records in ~21 seconds in Python?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Replaced Python row-by-row iterators with vectorized NumPy array offsets and Pandas columnar memory structures. In the database, SQLite Write-Ahead Logging (WAL) and indexed B-Trees eliminate disk I/O lockups.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3B82F6"/>
                </a:solidFill>
              </a:defRPr>
            </a:pPr>
            <a:r>
              <a:t>Q5: What is the benefit of the Two-Pass NumberedCanvas?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Standard ReportLab flowables cannot know total pages dynamically. The two-pass pattern stores canvas execution states in memory, counts total pages, and renders running headers and 'Page X of Y' footers before disk flush.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D4ED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⚡ PROJECT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 of Achievements &amp; Verified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End-to-end verified retail intelligence suite operational on local disk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🧹 Data Pipeline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1,000,000 records cleaned in 21.6s</a:t>
            </a:r>
            <a:br/>
            <a:r>
              <a:t>• 100% data retention (0 dropped)</a:t>
            </a:r>
            <a:br/>
            <a:r>
              <a:t>• 19 canonical enriched features</a:t>
            </a:r>
            <a:br/>
            <a:r>
              <a:t>• ₹765.09M revenue reconciled</a:t>
            </a:r>
            <a:br/>
            <a:r>
              <a:t>• Quality Index: 76.5% -&gt; 98.8%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🔮 AI &amp; Inventory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XGBoost Autoregressive Model</a:t>
            </a:r>
            <a:br/>
            <a:r>
              <a:t>• Dynamic King's Safety Stock</a:t>
            </a:r>
            <a:br/>
            <a:r>
              <a:t>• Reorder Point (ROP) automation</a:t>
            </a:r>
            <a:br/>
            <a:r>
              <a:t>• Autonomous PO quantity &amp; cost</a:t>
            </a:r>
            <a:br/>
            <a:r>
              <a:t>• 90% confidence bands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📅 Weekly Intelligence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213 Calendar weeks aggregated</a:t>
            </a:r>
            <a:br/>
            <a:r>
              <a:t>• Week-over-Week (WoW) tracking</a:t>
            </a:r>
            <a:br/>
            <a:r>
              <a:t>• Category volume &amp; revenue mix</a:t>
            </a:r>
            <a:br/>
            <a:r>
              <a:t>• ₹3.59M average weekly revenue</a:t>
            </a:r>
            <a:br/>
            <a:r>
              <a:t>• 26.4% gross profit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5603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78BFA"/>
                </a:solidFill>
              </a:defRPr>
            </a:pPr>
            <a:r>
              <a:t>📑 Executive Artifacts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DMart_cleaned_dataset.csv (144MB)</a:t>
            </a:r>
            <a:br/>
            <a:r>
              <a:t>• DMart_weekly_summary.csv</a:t>
            </a:r>
            <a:br/>
            <a:r>
              <a:t>• DMart_Data_Cleaning_Report.pdf</a:t>
            </a:r>
            <a:br/>
            <a:r>
              <a:t>• DMart_Weekly_Summary_Report.pdf</a:t>
            </a:r>
            <a:br/>
            <a:r>
              <a:t>• Interactive Streamlit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